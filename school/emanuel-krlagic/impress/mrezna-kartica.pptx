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4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media/image12.png" ContentType="image/png"/>
  <Override PartName="/ppt/media/image9.png" ContentType="image/png"/>
  <Override PartName="/ppt/media/image13.png" ContentType="image/png"/>
  <Override PartName="/ppt/media/image8.png" ContentType="image/png"/>
  <Override PartName="/ppt/media/image11.png" ContentType="image/png"/>
  <Override PartName="/ppt/media/image7.jpeg" ContentType="image/jpeg"/>
  <Override PartName="/ppt/media/image18.png" ContentType="image/png"/>
  <Override PartName="/ppt/media/image20.png" ContentType="image/png"/>
  <Override PartName="/ppt/media/image6.png" ContentType="image/png"/>
  <Override PartName="/ppt/media/image22.png" ContentType="image/png"/>
  <Override PartName="/ppt/media/image5.png" ContentType="image/png"/>
  <Override PartName="/ppt/media/image10.png" ContentType="image/png"/>
  <Override PartName="/ppt/media/image4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9919313-42A3-4069-96C6-E906AB52BD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146D8E7-88B8-49A0-8ED5-17FFE8D7B2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7EAC14B-EB1D-435B-BF4B-86B6DADB92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302B44B-2075-4BED-8A65-D9D6FEC615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B60A4AD-B884-4AFD-A93D-F7BFF78BB0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922205-9657-40E4-A250-4B64968133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530C5B0-739E-4FA2-B3F7-848F8B80C4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0DAA041-3A6B-4DE9-A4BA-7C22763680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BF6876A-AACF-41C9-B8C2-6D3CA217C1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89F0E59-5B35-4796-82F6-812AD7CD48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055390-5C1F-456A-A96C-066149B842A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6A34F60-F445-43E5-846B-1F437E4E0F4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397D971-F93A-406D-8136-8C6C695541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5C2678D-E057-469C-B50A-41D3BEE4EE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7381045-7B69-4019-96B2-8A1411E364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F2DEC8F-5256-4DED-AF96-89D2009D03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0E3DB96-E9BB-459D-A12F-76E2323CD0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056A733-C96F-4706-9FCA-C67C84FB68B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B154439-574D-4924-8F3C-0C4E48E3A0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DA7DC3E-23BF-4288-BCDE-8E19A48E1C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67DB62B-9A75-40F0-B194-3E9D702E58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98D5358-5BB9-4B15-AE5E-CFE419156F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D318C25-9E83-4EEC-9079-FE40A4147CF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CCE2359-2B90-4072-9BFC-E3D54CA6193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4A5337A-7EDA-4D6A-BD4B-A337338C5B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EA5D25D-0907-4F1A-8A38-B552B9215A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34D0AE8-BE42-4826-84BC-9F6EF5475D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2E9DEB2-B9A0-472B-B451-7210BD224D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986BE00-E1F7-4DA3-804A-2712F8155B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3220A88-C92E-48DD-A39B-216EEE11F7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725DC6E-E2AF-42D5-B00E-5191B60E07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4E33259-0487-4C41-B8D6-87B645923E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002CCDE-C03E-4BE5-89C1-B7463196EB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10120B1-7A97-42D7-92AD-577816AB64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C16489F-CBC8-4663-9946-3D543588846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BA51666-B605-4B52-A94C-34087A869ED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BE1F99C-0A1E-4BF3-BC12-1D596CDDCB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12A9090-FB0A-4DA6-80D9-99B0D10A1C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A52BD3F-3AAC-4838-B7CD-0CB86F7C24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B615790-5571-4F75-BE0E-3DCD4FB178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4F41558-DBDE-4007-A366-6D010EB363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CB1D1F2-8C0E-445F-A98F-B2A23D3082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FB6B32C-EBA8-472F-83F9-D0C711EBC7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996E672-85FE-43A1-BDD4-5AACF5AE08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15FA42F-661E-4880-B56C-238E6B4952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D9342BC-1F3A-429C-8DCD-083E39FE0F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22FBF75-C522-4C6E-9DA6-D38335D475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286ED9A-6DD8-48E3-BF31-AC99AB84D26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30606F9-2A38-48BF-8683-FFF4B2BD30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FC55649-6874-4276-AE47-630E0A78C2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8DBEF1B-7343-44FE-ADC5-510292BB9B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1F35680-393F-4010-B14B-D8845515B1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CAA15C5-13C6-42C9-B283-BA4D348349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7D0F48D-09CD-4304-AF30-81AFF7E521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98A0777-4633-4F4E-AB5E-7881184402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BBC9AE4-DC29-4BC7-97D6-F89060D71A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8424940-366F-433C-9B88-42998F31AC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413E08E-6656-472F-8F52-BB8E700543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6D4041F-E136-4C6C-B44B-A8FE1C606DE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22E9E36-044B-4044-A0F9-EF82C429993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150F123-5AE6-4503-825A-12E6070BAD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6CDACA1-CC0D-42FB-99BA-C1A5518A28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BD10B51-F0F8-476E-A70B-F87F0187DA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4909245-68AE-4A68-8CC9-D5F9A4AB06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4E33648-47E4-4686-93AD-2CCBCE93DC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9916261-C20A-41B7-9711-31CE80739E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FB18207-4F5B-4801-AF02-02DC74E41E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539ECD4-6E87-4D7D-850A-19A58A7EA3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21E7E27-F3B8-4177-BC50-B3519084E5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0D75E07-7D84-4E8A-99A7-04EF6D1F4B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4F1E0F3-C6B6-4F47-8786-23502DA986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7457448-31FC-4B9F-8EBD-DAB29189B09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0"/>
            <a:ext cx="10078560" cy="566820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1" name=""/>
          <p:cNvSpPr/>
          <p:nvPr/>
        </p:nvSpPr>
        <p:spPr>
          <a:xfrm>
            <a:off x="270000" y="180000"/>
            <a:ext cx="9538560" cy="4858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2" name=""/>
          <p:cNvSpPr/>
          <p:nvPr/>
        </p:nvSpPr>
        <p:spPr>
          <a:xfrm>
            <a:off x="7920000" y="90000"/>
            <a:ext cx="898560" cy="1168560"/>
          </a:xfrm>
          <a:prstGeom prst="rect">
            <a:avLst/>
          </a:prstGeom>
          <a:solidFill>
            <a:srgbClr val="7d8ae7"/>
          </a:solidFill>
          <a:ln w="10800">
            <a:solidFill>
              <a:srgbClr val="3f52d9"/>
            </a:solidFill>
            <a:round/>
          </a:ln>
          <a:effectLst>
            <a:outerShdw blurRad="0" dir="2700000" dist="30547" rotWithShape="0">
              <a:srgbClr val="c1c7f4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90000" y="450000"/>
            <a:ext cx="9088560" cy="62856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0" dir="2700000" dist="30547" rotWithShape="0">
              <a:srgbClr val="dcf1c1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ftr" idx="1"/>
          </p:nvPr>
        </p:nvSpPr>
        <p:spPr>
          <a:xfrm>
            <a:off x="3447360" y="5164920"/>
            <a:ext cx="319356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eeeee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2"/>
          </p:nvPr>
        </p:nvSpPr>
        <p:spPr>
          <a:xfrm>
            <a:off x="7227000" y="516492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619FF4-598F-4512-AE5B-78B8BF1AEA4A}" type="slidenum">
              <a:rPr b="0" lang="en-US" sz="1400" spc="-1" strike="noStrike">
                <a:solidFill>
                  <a:srgbClr val="eeeeee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3"/>
          </p:nvPr>
        </p:nvSpPr>
        <p:spPr>
          <a:xfrm>
            <a:off x="504000" y="516492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0" y="0"/>
            <a:ext cx="10078560" cy="566820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46" name=""/>
          <p:cNvSpPr/>
          <p:nvPr/>
        </p:nvSpPr>
        <p:spPr>
          <a:xfrm>
            <a:off x="270000" y="180000"/>
            <a:ext cx="9538560" cy="4858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47" name=""/>
          <p:cNvSpPr/>
          <p:nvPr/>
        </p:nvSpPr>
        <p:spPr>
          <a:xfrm>
            <a:off x="7920000" y="90000"/>
            <a:ext cx="898560" cy="1168560"/>
          </a:xfrm>
          <a:prstGeom prst="rect">
            <a:avLst/>
          </a:prstGeom>
          <a:solidFill>
            <a:srgbClr val="7d8ae7"/>
          </a:solidFill>
          <a:ln w="10800">
            <a:solidFill>
              <a:srgbClr val="3f52d9"/>
            </a:solidFill>
            <a:round/>
          </a:ln>
          <a:effectLst>
            <a:outerShdw blurRad="0" dir="2700000" dist="30547" rotWithShape="0">
              <a:srgbClr val="c1c7f4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" name=""/>
          <p:cNvSpPr/>
          <p:nvPr/>
        </p:nvSpPr>
        <p:spPr>
          <a:xfrm>
            <a:off x="90000" y="450000"/>
            <a:ext cx="9088560" cy="62856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0" dir="2700000" dist="30547" rotWithShape="0">
              <a:srgbClr val="dcf1c1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ftr" idx="4"/>
          </p:nvPr>
        </p:nvSpPr>
        <p:spPr>
          <a:xfrm>
            <a:off x="3447360" y="5164920"/>
            <a:ext cx="319356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eeeee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ldNum" idx="5"/>
          </p:nvPr>
        </p:nvSpPr>
        <p:spPr>
          <a:xfrm>
            <a:off x="7227000" y="516492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E31379-8496-4385-8DD6-9F9C16511BA5}" type="slidenum">
              <a:rPr b="0" lang="en-US" sz="1400" spc="-1" strike="noStrike">
                <a:solidFill>
                  <a:srgbClr val="eeeeee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6"/>
          </p:nvPr>
        </p:nvSpPr>
        <p:spPr>
          <a:xfrm>
            <a:off x="504000" y="516492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>
            <a:off x="0" y="0"/>
            <a:ext cx="10078560" cy="566820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91" name=""/>
          <p:cNvSpPr/>
          <p:nvPr/>
        </p:nvSpPr>
        <p:spPr>
          <a:xfrm>
            <a:off x="270000" y="180000"/>
            <a:ext cx="9538560" cy="4858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92" name=""/>
          <p:cNvSpPr/>
          <p:nvPr/>
        </p:nvSpPr>
        <p:spPr>
          <a:xfrm>
            <a:off x="7920000" y="90000"/>
            <a:ext cx="898560" cy="1168560"/>
          </a:xfrm>
          <a:prstGeom prst="rect">
            <a:avLst/>
          </a:prstGeom>
          <a:solidFill>
            <a:srgbClr val="7d8ae7"/>
          </a:solidFill>
          <a:ln w="10800">
            <a:solidFill>
              <a:srgbClr val="3f52d9"/>
            </a:solidFill>
            <a:round/>
          </a:ln>
          <a:effectLst>
            <a:outerShdw blurRad="0" dir="2700000" dist="30547" rotWithShape="0">
              <a:srgbClr val="c1c7f4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3" name=""/>
          <p:cNvSpPr/>
          <p:nvPr/>
        </p:nvSpPr>
        <p:spPr>
          <a:xfrm>
            <a:off x="90000" y="450000"/>
            <a:ext cx="9088560" cy="62856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0" dir="2700000" dist="30547" rotWithShape="0">
              <a:srgbClr val="dcf1c1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ftr" idx="7"/>
          </p:nvPr>
        </p:nvSpPr>
        <p:spPr>
          <a:xfrm>
            <a:off x="3447360" y="5164920"/>
            <a:ext cx="319356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eeeee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ldNum" idx="8"/>
          </p:nvPr>
        </p:nvSpPr>
        <p:spPr>
          <a:xfrm>
            <a:off x="7227000" y="516492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C78836-8608-495D-94CB-A52C59904E3B}" type="slidenum">
              <a:rPr b="0" lang="en-US" sz="1400" spc="-1" strike="noStrike">
                <a:solidFill>
                  <a:srgbClr val="eeeeee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dt" idx="9"/>
          </p:nvPr>
        </p:nvSpPr>
        <p:spPr>
          <a:xfrm>
            <a:off x="504000" y="516492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>
            <a:off x="0" y="0"/>
            <a:ext cx="10078560" cy="566820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136" name=""/>
          <p:cNvSpPr/>
          <p:nvPr/>
        </p:nvSpPr>
        <p:spPr>
          <a:xfrm>
            <a:off x="270000" y="180000"/>
            <a:ext cx="9538560" cy="4858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137" name=""/>
          <p:cNvSpPr/>
          <p:nvPr/>
        </p:nvSpPr>
        <p:spPr>
          <a:xfrm>
            <a:off x="7920000" y="90000"/>
            <a:ext cx="898560" cy="1168560"/>
          </a:xfrm>
          <a:prstGeom prst="rect">
            <a:avLst/>
          </a:prstGeom>
          <a:solidFill>
            <a:srgbClr val="7d8ae7"/>
          </a:solidFill>
          <a:ln w="10800">
            <a:solidFill>
              <a:srgbClr val="3f52d9"/>
            </a:solidFill>
            <a:round/>
          </a:ln>
          <a:effectLst>
            <a:outerShdw blurRad="0" dir="2700000" dist="30547" rotWithShape="0">
              <a:srgbClr val="c1c7f4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8" name=""/>
          <p:cNvSpPr/>
          <p:nvPr/>
        </p:nvSpPr>
        <p:spPr>
          <a:xfrm>
            <a:off x="90000" y="450000"/>
            <a:ext cx="9088560" cy="62856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0" dir="2700000" dist="30547" rotWithShape="0">
              <a:srgbClr val="dcf1c1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ftr" idx="10"/>
          </p:nvPr>
        </p:nvSpPr>
        <p:spPr>
          <a:xfrm>
            <a:off x="3447360" y="5164920"/>
            <a:ext cx="319356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eeeee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ldNum" idx="11"/>
          </p:nvPr>
        </p:nvSpPr>
        <p:spPr>
          <a:xfrm>
            <a:off x="7227000" y="516492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FA826A-7E6B-4BCE-844E-BD8DB77952D8}" type="slidenum">
              <a:rPr b="0" lang="en-US" sz="1400" spc="-1" strike="noStrike">
                <a:solidFill>
                  <a:srgbClr val="eeeeee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dt" idx="12"/>
          </p:nvPr>
        </p:nvSpPr>
        <p:spPr>
          <a:xfrm>
            <a:off x="504000" y="516492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>
            <a:off x="0" y="0"/>
            <a:ext cx="10078560" cy="566820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181" name=""/>
          <p:cNvSpPr/>
          <p:nvPr/>
        </p:nvSpPr>
        <p:spPr>
          <a:xfrm>
            <a:off x="270000" y="180000"/>
            <a:ext cx="9538560" cy="4858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182" name=""/>
          <p:cNvSpPr/>
          <p:nvPr/>
        </p:nvSpPr>
        <p:spPr>
          <a:xfrm>
            <a:off x="7920000" y="90000"/>
            <a:ext cx="898560" cy="1168560"/>
          </a:xfrm>
          <a:prstGeom prst="rect">
            <a:avLst/>
          </a:prstGeom>
          <a:solidFill>
            <a:srgbClr val="7d8ae7"/>
          </a:solidFill>
          <a:ln w="10800">
            <a:solidFill>
              <a:srgbClr val="3f52d9"/>
            </a:solidFill>
            <a:round/>
          </a:ln>
          <a:effectLst>
            <a:outerShdw blurRad="0" dir="2700000" dist="30547" rotWithShape="0">
              <a:srgbClr val="c1c7f4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3" name=""/>
          <p:cNvSpPr/>
          <p:nvPr/>
        </p:nvSpPr>
        <p:spPr>
          <a:xfrm>
            <a:off x="90000" y="450000"/>
            <a:ext cx="9088560" cy="62856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0" dir="2700000" dist="30547" rotWithShape="0">
              <a:srgbClr val="dcf1c1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ftr" idx="13"/>
          </p:nvPr>
        </p:nvSpPr>
        <p:spPr>
          <a:xfrm>
            <a:off x="3447360" y="5164920"/>
            <a:ext cx="319356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eeeee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sldNum" idx="14"/>
          </p:nvPr>
        </p:nvSpPr>
        <p:spPr>
          <a:xfrm>
            <a:off x="7227000" y="516492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FB47C0-B2DA-4BCE-91C8-788C212AB4DC}" type="slidenum">
              <a:rPr b="0" lang="en-US" sz="1400" spc="-1" strike="noStrike">
                <a:solidFill>
                  <a:srgbClr val="eeeeee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PlaceHolder 6"/>
          <p:cNvSpPr>
            <a:spLocks noGrp="1"/>
          </p:cNvSpPr>
          <p:nvPr>
            <p:ph type="dt" idx="15"/>
          </p:nvPr>
        </p:nvSpPr>
        <p:spPr>
          <a:xfrm>
            <a:off x="504000" y="516492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"/>
          <p:cNvSpPr/>
          <p:nvPr/>
        </p:nvSpPr>
        <p:spPr>
          <a:xfrm>
            <a:off x="0" y="0"/>
            <a:ext cx="10078560" cy="566820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227" name=""/>
          <p:cNvSpPr/>
          <p:nvPr/>
        </p:nvSpPr>
        <p:spPr>
          <a:xfrm>
            <a:off x="270000" y="180000"/>
            <a:ext cx="9538560" cy="4858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eeeeee"/>
              </a:solidFill>
              <a:latin typeface="Arial"/>
              <a:ea typeface="DejaVu Sans"/>
            </a:endParaRPr>
          </a:p>
        </p:txBody>
      </p:sp>
      <p:sp>
        <p:nvSpPr>
          <p:cNvPr id="228" name=""/>
          <p:cNvSpPr/>
          <p:nvPr/>
        </p:nvSpPr>
        <p:spPr>
          <a:xfrm>
            <a:off x="7920000" y="90000"/>
            <a:ext cx="898560" cy="1168560"/>
          </a:xfrm>
          <a:prstGeom prst="rect">
            <a:avLst/>
          </a:prstGeom>
          <a:solidFill>
            <a:srgbClr val="7d8ae7"/>
          </a:solidFill>
          <a:ln w="10800">
            <a:solidFill>
              <a:srgbClr val="3f52d9"/>
            </a:solidFill>
            <a:round/>
          </a:ln>
          <a:effectLst>
            <a:outerShdw blurRad="0" dir="2700000" dist="30547" rotWithShape="0">
              <a:srgbClr val="c1c7f4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9" name=""/>
          <p:cNvSpPr/>
          <p:nvPr/>
        </p:nvSpPr>
        <p:spPr>
          <a:xfrm>
            <a:off x="90000" y="450000"/>
            <a:ext cx="9088560" cy="628560"/>
          </a:xfrm>
          <a:prstGeom prst="rect">
            <a:avLst/>
          </a:prstGeom>
          <a:solidFill>
            <a:srgbClr val="b5e77d"/>
          </a:solidFill>
          <a:ln w="10800">
            <a:solidFill>
              <a:srgbClr val="91d93f"/>
            </a:solidFill>
            <a:round/>
          </a:ln>
          <a:effectLst>
            <a:outerShdw blurRad="0" dir="2700000" dist="30547" rotWithShape="0">
              <a:srgbClr val="dcf1c1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0" name="PlaceHolder 1"/>
          <p:cNvSpPr>
            <a:spLocks noGrp="1"/>
          </p:cNvSpPr>
          <p:nvPr>
            <p:ph type="ftr" idx="16"/>
          </p:nvPr>
        </p:nvSpPr>
        <p:spPr>
          <a:xfrm>
            <a:off x="3447360" y="5164920"/>
            <a:ext cx="319356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eeeee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sldNum" idx="17"/>
          </p:nvPr>
        </p:nvSpPr>
        <p:spPr>
          <a:xfrm>
            <a:off x="7227000" y="516492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eeeeee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53FC3F-52F6-4A79-B5A5-61E17C4CBF1E}" type="slidenum">
              <a:rPr b="0" lang="en-US" sz="1400" spc="-1" strike="noStrike">
                <a:solidFill>
                  <a:srgbClr val="eeeeee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dt" idx="18"/>
          </p:nvPr>
        </p:nvSpPr>
        <p:spPr>
          <a:xfrm>
            <a:off x="504000" y="5164920"/>
            <a:ext cx="234684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slideLayout" Target="../slideLayouts/slideLayout3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5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6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540000" y="450720"/>
            <a:ext cx="863856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EMANUEL KRLAGIĆ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subTitle"/>
          </p:nvPr>
        </p:nvSpPr>
        <p:spPr>
          <a:xfrm>
            <a:off x="540000" y="1350000"/>
            <a:ext cx="8998560" cy="1849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MREŽNA KARTICA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3" name="" descr=""/>
          <p:cNvPicPr/>
          <p:nvPr/>
        </p:nvPicPr>
        <p:blipFill>
          <a:blip r:embed="rId1"/>
          <a:stretch/>
        </p:blipFill>
        <p:spPr>
          <a:xfrm>
            <a:off x="3657600" y="2286000"/>
            <a:ext cx="2760840" cy="276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ubTitle"/>
          </p:nvPr>
        </p:nvSpPr>
        <p:spPr>
          <a:xfrm>
            <a:off x="540000" y="1143000"/>
            <a:ext cx="8638560" cy="342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Mrežna kartica je uređaj koji omogućuje računalu povezivanje na internet.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5" name="" descr=""/>
          <p:cNvPicPr/>
          <p:nvPr/>
        </p:nvPicPr>
        <p:blipFill>
          <a:blip r:embed="rId1"/>
          <a:stretch/>
        </p:blipFill>
        <p:spPr>
          <a:xfrm>
            <a:off x="2971800" y="2270880"/>
            <a:ext cx="3891240" cy="2528640"/>
          </a:xfrm>
          <a:prstGeom prst="rect">
            <a:avLst/>
          </a:prstGeom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ubTitle"/>
          </p:nvPr>
        </p:nvSpPr>
        <p:spPr>
          <a:xfrm>
            <a:off x="540000" y="507600"/>
            <a:ext cx="8638560" cy="292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Postoje dva tipa mrežnih kartica: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1.  Žični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2.  Bežični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7" name="" descr=""/>
          <p:cNvPicPr/>
          <p:nvPr/>
        </p:nvPicPr>
        <p:blipFill>
          <a:blip r:embed="rId1"/>
          <a:stretch/>
        </p:blipFill>
        <p:spPr>
          <a:xfrm>
            <a:off x="5486400" y="1643400"/>
            <a:ext cx="2927160" cy="2927160"/>
          </a:xfrm>
          <a:prstGeom prst="rect">
            <a:avLst/>
          </a:prstGeom>
          <a:ln w="10800">
            <a:noFill/>
          </a:ln>
        </p:spPr>
      </p:pic>
      <p:pic>
        <p:nvPicPr>
          <p:cNvPr id="278" name="" descr=""/>
          <p:cNvPicPr/>
          <p:nvPr/>
        </p:nvPicPr>
        <p:blipFill>
          <a:blip r:embed="rId2"/>
          <a:stretch/>
        </p:blipFill>
        <p:spPr>
          <a:xfrm>
            <a:off x="2286000" y="1600200"/>
            <a:ext cx="2912400" cy="3155760"/>
          </a:xfrm>
          <a:prstGeom prst="rect">
            <a:avLst/>
          </a:prstGeom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856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Žični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subTitle"/>
          </p:nvPr>
        </p:nvSpPr>
        <p:spPr>
          <a:xfrm>
            <a:off x="540000" y="1350000"/>
            <a:ext cx="899856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Žično povezivanje na internet se izvršava uz pomoć internet kabla (etheronet).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1" name="" descr=""/>
          <p:cNvPicPr/>
          <p:nvPr/>
        </p:nvPicPr>
        <p:blipFill>
          <a:blip r:embed="rId1"/>
          <a:stretch/>
        </p:blipFill>
        <p:spPr>
          <a:xfrm>
            <a:off x="2900520" y="2514600"/>
            <a:ext cx="4413240" cy="2042640"/>
          </a:xfrm>
          <a:prstGeom prst="rect">
            <a:avLst/>
          </a:prstGeom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856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Bežični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540000" y="1350000"/>
            <a:ext cx="899856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Bežično povezivanje na internet omogućuje internet kartica koja radi na radio valovima 2.4 GHz ili 5 GHz.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4" name="" descr=""/>
          <p:cNvPicPr/>
          <p:nvPr/>
        </p:nvPicPr>
        <p:blipFill>
          <a:blip r:embed="rId1"/>
          <a:stretch/>
        </p:blipFill>
        <p:spPr>
          <a:xfrm>
            <a:off x="2514600" y="2286000"/>
            <a:ext cx="4169880" cy="2710080"/>
          </a:xfrm>
          <a:prstGeom prst="rect">
            <a:avLst/>
          </a:prstGeom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ubTitle"/>
          </p:nvPr>
        </p:nvSpPr>
        <p:spPr>
          <a:xfrm>
            <a:off x="540000" y="1143000"/>
            <a:ext cx="8638560" cy="38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Bežične mrežne kartice rade na osnovu kanala: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2.4GHz ima 13 kanala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5GHz ima 165 kanala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6" name="" descr=""/>
          <p:cNvPicPr/>
          <p:nvPr/>
        </p:nvPicPr>
        <p:blipFill>
          <a:blip r:embed="rId1"/>
          <a:stretch/>
        </p:blipFill>
        <p:spPr>
          <a:xfrm>
            <a:off x="2990520" y="2752920"/>
            <a:ext cx="3409200" cy="204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ubTitle"/>
          </p:nvPr>
        </p:nvSpPr>
        <p:spPr>
          <a:xfrm>
            <a:off x="540000" y="507240"/>
            <a:ext cx="8638560" cy="292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Kanali se korise za brži prijenos podataka na jednoj mreži tj. ukoliko postoji nekoliko mreža u okolini, kanali poboljšavaju promet mreže tako što izoliraju tu mrežu od druge.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8" name="" descr=""/>
          <p:cNvPicPr/>
          <p:nvPr/>
        </p:nvPicPr>
        <p:blipFill>
          <a:blip r:embed="rId1"/>
          <a:stretch/>
        </p:blipFill>
        <p:spPr>
          <a:xfrm>
            <a:off x="2057760" y="2641320"/>
            <a:ext cx="5484960" cy="2157840"/>
          </a:xfrm>
          <a:prstGeom prst="rect">
            <a:avLst/>
          </a:prstGeom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540000" y="450000"/>
            <a:ext cx="863856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Arial"/>
              </a:rPr>
              <a:t>Razlika između 2.4 i 5 GHz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540000" y="1350000"/>
            <a:ext cx="8998560" cy="35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2.4 GHz je uglavnom sporiji ali je signal jači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Dok je 5 GHz brži ali ima slabiji signal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1" name="" descr=""/>
          <p:cNvPicPr/>
          <p:nvPr/>
        </p:nvPicPr>
        <p:blipFill>
          <a:blip r:embed="rId1"/>
          <a:stretch/>
        </p:blipFill>
        <p:spPr>
          <a:xfrm>
            <a:off x="3380400" y="2904480"/>
            <a:ext cx="2970720" cy="1923480"/>
          </a:xfrm>
          <a:prstGeom prst="rect">
            <a:avLst/>
          </a:prstGeom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ubTitle"/>
          </p:nvPr>
        </p:nvSpPr>
        <p:spPr>
          <a:xfrm>
            <a:off x="540000" y="1143000"/>
            <a:ext cx="9060480" cy="3656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Moderne mrežne kartice dolaze I sa bluetooth-om ugrađenim u njima.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3" name="" descr=""/>
          <p:cNvPicPr/>
          <p:nvPr/>
        </p:nvPicPr>
        <p:blipFill>
          <a:blip r:embed="rId1"/>
          <a:stretch/>
        </p:blipFill>
        <p:spPr>
          <a:xfrm>
            <a:off x="3473280" y="2311920"/>
            <a:ext cx="2469600" cy="2487960"/>
          </a:xfrm>
          <a:prstGeom prst="rect">
            <a:avLst/>
          </a:prstGeom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ubTitle"/>
          </p:nvPr>
        </p:nvSpPr>
        <p:spPr>
          <a:xfrm>
            <a:off x="540000" y="1143000"/>
            <a:ext cx="8638560" cy="388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100" spc="-1" strike="noStrike">
                <a:solidFill>
                  <a:srgbClr val="000000"/>
                </a:solidFill>
                <a:latin typeface="Arial"/>
              </a:rPr>
              <a:t>Bluetooth povezivanje služi za prijenos podataka.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100" spc="-1" strike="noStrike">
                <a:solidFill>
                  <a:srgbClr val="000000"/>
                </a:solidFill>
                <a:latin typeface="Arial"/>
              </a:rPr>
              <a:t>Radi na kanalima i radio valovima.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100" spc="-1" strike="noStrike">
                <a:solidFill>
                  <a:srgbClr val="000000"/>
                </a:solidFill>
                <a:latin typeface="Arial"/>
              </a:rPr>
              <a:t>Na jedan uređaj je maksimalno od jednom povezati do 5 uređaja.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5" name="" descr=""/>
          <p:cNvPicPr/>
          <p:nvPr/>
        </p:nvPicPr>
        <p:blipFill>
          <a:blip r:embed="rId1"/>
          <a:stretch/>
        </p:blipFill>
        <p:spPr>
          <a:xfrm>
            <a:off x="8171280" y="2286000"/>
            <a:ext cx="1007280" cy="1370160"/>
          </a:xfrm>
          <a:prstGeom prst="rect">
            <a:avLst/>
          </a:prstGeom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ubTitle"/>
          </p:nvPr>
        </p:nvSpPr>
        <p:spPr>
          <a:xfrm>
            <a:off x="504000" y="1371600"/>
            <a:ext cx="9071280" cy="324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100" spc="-1" strike="noStrike">
                <a:solidFill>
                  <a:srgbClr val="000000"/>
                </a:solidFill>
                <a:latin typeface="Arial"/>
              </a:rPr>
              <a:t>Ima 79 kanala tj. u jednoj sobi je moguće imati 79 različitih uređaja koji prenose podatke na neki drugi uređaj.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7" name="" descr=""/>
          <p:cNvPicPr/>
          <p:nvPr/>
        </p:nvPicPr>
        <p:blipFill>
          <a:blip r:embed="rId1"/>
          <a:stretch/>
        </p:blipFill>
        <p:spPr>
          <a:xfrm>
            <a:off x="2057400" y="2514600"/>
            <a:ext cx="6112080" cy="2291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ubTitle"/>
          </p:nvPr>
        </p:nvSpPr>
        <p:spPr>
          <a:xfrm>
            <a:off x="504000" y="1143000"/>
            <a:ext cx="9071280" cy="347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Bluetooth može prebacivati različite vrste podataka, uključujući: dokumente, slike, filmove, muziku,aplikacije I druge.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9" name="" descr=""/>
          <p:cNvPicPr/>
          <p:nvPr/>
        </p:nvPicPr>
        <p:blipFill>
          <a:blip r:embed="rId1"/>
          <a:stretch/>
        </p:blipFill>
        <p:spPr>
          <a:xfrm>
            <a:off x="685800" y="2645640"/>
            <a:ext cx="1925640" cy="1925640"/>
          </a:xfrm>
          <a:prstGeom prst="rect">
            <a:avLst/>
          </a:prstGeom>
          <a:ln w="0">
            <a:noFill/>
          </a:ln>
        </p:spPr>
      </p:pic>
      <p:pic>
        <p:nvPicPr>
          <p:cNvPr id="300" name="" descr=""/>
          <p:cNvPicPr/>
          <p:nvPr/>
        </p:nvPicPr>
        <p:blipFill>
          <a:blip r:embed="rId2"/>
          <a:stretch/>
        </p:blipFill>
        <p:spPr>
          <a:xfrm>
            <a:off x="2514600" y="2645640"/>
            <a:ext cx="1904040" cy="1904040"/>
          </a:xfrm>
          <a:prstGeom prst="rect">
            <a:avLst/>
          </a:prstGeom>
          <a:ln w="0">
            <a:noFill/>
          </a:ln>
        </p:spPr>
      </p:pic>
      <p:pic>
        <p:nvPicPr>
          <p:cNvPr id="301" name="" descr=""/>
          <p:cNvPicPr/>
          <p:nvPr/>
        </p:nvPicPr>
        <p:blipFill>
          <a:blip r:embed="rId3"/>
          <a:stretch/>
        </p:blipFill>
        <p:spPr>
          <a:xfrm>
            <a:off x="4114800" y="2557080"/>
            <a:ext cx="2056680" cy="2056680"/>
          </a:xfrm>
          <a:prstGeom prst="rect">
            <a:avLst/>
          </a:prstGeom>
          <a:ln w="0">
            <a:noFill/>
          </a:ln>
        </p:spPr>
      </p:pic>
      <p:pic>
        <p:nvPicPr>
          <p:cNvPr id="302" name="" descr=""/>
          <p:cNvPicPr/>
          <p:nvPr/>
        </p:nvPicPr>
        <p:blipFill>
          <a:blip r:embed="rId4"/>
          <a:stretch/>
        </p:blipFill>
        <p:spPr>
          <a:xfrm>
            <a:off x="5736600" y="2743200"/>
            <a:ext cx="1806480" cy="1806480"/>
          </a:xfrm>
          <a:prstGeom prst="rect">
            <a:avLst/>
          </a:prstGeom>
          <a:ln w="0">
            <a:noFill/>
          </a:ln>
        </p:spPr>
      </p:pic>
      <p:pic>
        <p:nvPicPr>
          <p:cNvPr id="303" name="" descr=""/>
          <p:cNvPicPr/>
          <p:nvPr/>
        </p:nvPicPr>
        <p:blipFill>
          <a:blip r:embed="rId5"/>
          <a:stretch/>
        </p:blipFill>
        <p:spPr>
          <a:xfrm>
            <a:off x="7543800" y="2514600"/>
            <a:ext cx="2142000" cy="214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442584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Bežične kartice: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584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Žična kartica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6" name="" descr=""/>
          <p:cNvPicPr/>
          <p:nvPr/>
        </p:nvPicPr>
        <p:blipFill>
          <a:blip r:embed="rId1"/>
          <a:stretch/>
        </p:blipFill>
        <p:spPr>
          <a:xfrm>
            <a:off x="228600" y="1371600"/>
            <a:ext cx="2970720" cy="2970720"/>
          </a:xfrm>
          <a:prstGeom prst="rect">
            <a:avLst/>
          </a:prstGeom>
          <a:ln w="0">
            <a:noFill/>
          </a:ln>
        </p:spPr>
      </p:pic>
      <p:pic>
        <p:nvPicPr>
          <p:cNvPr id="307" name="" descr=""/>
          <p:cNvPicPr/>
          <p:nvPr/>
        </p:nvPicPr>
        <p:blipFill>
          <a:blip r:embed="rId2"/>
          <a:stretch/>
        </p:blipFill>
        <p:spPr>
          <a:xfrm>
            <a:off x="3026160" y="1752840"/>
            <a:ext cx="1903680" cy="1903680"/>
          </a:xfrm>
          <a:prstGeom prst="rect">
            <a:avLst/>
          </a:prstGeom>
          <a:ln w="0">
            <a:noFill/>
          </a:ln>
        </p:spPr>
      </p:pic>
      <p:pic>
        <p:nvPicPr>
          <p:cNvPr id="308" name="" descr=""/>
          <p:cNvPicPr/>
          <p:nvPr/>
        </p:nvPicPr>
        <p:blipFill>
          <a:blip r:embed="rId3"/>
          <a:stretch/>
        </p:blipFill>
        <p:spPr>
          <a:xfrm>
            <a:off x="2743200" y="3615480"/>
            <a:ext cx="1587600" cy="1184040"/>
          </a:xfrm>
          <a:prstGeom prst="rect">
            <a:avLst/>
          </a:prstGeom>
          <a:ln w="0">
            <a:noFill/>
          </a:ln>
        </p:spPr>
      </p:pic>
      <p:pic>
        <p:nvPicPr>
          <p:cNvPr id="309" name="" descr=""/>
          <p:cNvPicPr/>
          <p:nvPr/>
        </p:nvPicPr>
        <p:blipFill>
          <a:blip r:embed="rId4"/>
          <a:stretch/>
        </p:blipFill>
        <p:spPr>
          <a:xfrm>
            <a:off x="5456880" y="2057400"/>
            <a:ext cx="3457440" cy="261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" descr=""/>
          <p:cNvPicPr/>
          <p:nvPr/>
        </p:nvPicPr>
        <p:blipFill>
          <a:blip r:embed="rId1"/>
          <a:stretch/>
        </p:blipFill>
        <p:spPr>
          <a:xfrm>
            <a:off x="1713240" y="1161000"/>
            <a:ext cx="6515640" cy="3638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Application>LibreOffice/7.4.2.3$Linux_X86_64 LibreOffice_project/40$Build-3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2022-11-18T21:24:03Z</dcterms:created>
  <dc:creator/>
  <dc:description/>
  <dc:language>en-US</dc:language>
  <cp:lastModifiedBy/>
  <dcterms:modified xsi:type="dcterms:W3CDTF">2022-11-18T23:39:22Z</dcterms:modified>
  <cp:revision>27</cp:revision>
  <dc:subject/>
  <dc:title>Inspiration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